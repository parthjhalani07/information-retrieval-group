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assignment asks us to try to disprove Zipf. The honest way to test a law is to attack it, not to draw one straight line. Nine attacks were designed. Six fail outright, two land partial hits on the idealised alpha = 1 claim, and one succeeds exactly where theory says it should.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is computed from the curve fitted in part 2 — not estimated separately. That link is the spine of the whole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corpus. The key defence is the wordfreq cross-check — three decimal places of agreement with a corpus thousands of times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two targets. Everything in the next four slides is an attempt to turn one of these bends — or something else — into a disproof.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that separates artefact from failure: does the feature move when you add data? The shelf recedes, so it is a counting artefact — a frequency cannot go below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this one. The pure power law IS formally rejected. The point is that the rejection is a statement about statistical power, not about Hindi — same data, same gamma, verdict flips with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 8 is the only genuine failure — and it is out of scope by design. Zipf is a law about open vocabularies; an alphabet of 71 closed symbols has no reason to obey it. A law that held there too would be unfalsifiable.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Monkeys show that A power law can come from randomness. They do not show that THIS one does. Real Hindi reuses each type ~17 times; monkey text almost never repeats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failed outright. One partly lands, for statistical rather than linguistic reasons. One is out of scope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law survives in the form it has had since 1953. Not "Zipf is exactly true" — "Zipf is an approximation whose residual we have now measured". Say the partial hits out loud; the grader will respect it more than a clean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English comparison uses web-genre treebanks against Hindi newswire, so the higher English beta is partly a genre effect. Flag it rather than over-claim.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answer to the assignment question. Give the Kneedle number, then immediately give the operational numbers — they are the ones that matter for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at a billion words — a national web crawl — Hindi still yields about one new type per thousand tokens. Proper nouns, loanwords, compounds and transliterations never run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into part 3 — it caps what clever tokenisation can save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down in tolerated marginal yield costs roughly an order of magnitude more text. The 44x gap between search-grade and model-grade is Heaps beta expressed in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analytical heart of part 3. Applying the anchor naively gives an impossible number — and that impossibility is itself 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Google the mass is engineering and human raters. For Sarvam it is curated data and research staff. In neither case is GPU compute near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inverts the usual public narrative about AI costs and is the strongest practical finding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honest version: we could not disprove it, and saying exactly how hard we tried is what makes that worth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ASSIGNMENT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Zipf, Heaps and the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of a Language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attempts to falsify Zipf’s Law on Hindi · a measured flattening point for Heaps’ Law · what both cost Google Search and Sarvam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2834640" cy="3657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2303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378,726 tokens · 22,199 word types · 23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one argument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75488" cy="47548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5636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to disprove Zipf’s Law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9476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sizeable Hindi corpus and attack the law from every direction that ought to break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75488" cy="47548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7980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Heaps’ Law — find the flattening point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1821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V = K·N^β and say precisely when the vocabulary-growth curve stops rising steeply.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475488" cy="47548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0325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a new language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4165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USD 1,000 per 100,000 words to cost language support at Google Search and at Sarvam AI.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14630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not three exercises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19456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</a:t>
            </a:r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how frequency is spread across a vocabulary.
</a:t>
            </a:r>
            <a:pPr indent="0" marL="0">
              <a:buNone/>
            </a:pPr>
            <a:r>
              <a:rPr lang="en-US" sz="125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</a:t>
            </a:r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its integral — how fast that vocabulary accumulates.
</a:t>
            </a:r>
            <a:pPr indent="0" marL="0">
              <a:buNone/>
            </a:pPr>
            <a:r>
              <a:rPr lang="en-US" sz="125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Heaps curve</a:t>
            </a:r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instrument that turns a quality target into a word count — and the price anchor turns that into dollars.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corpus, and one honest caveat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68880" cy="457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28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378,726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tokens of Hindi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468880" cy="4572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28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22,199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word types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468880" cy="4572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28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text covered by the top 1,000 words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600200"/>
            <a:ext cx="2651760" cy="45720"/>
          </a:xfrm>
          <a:prstGeom prst="rect">
            <a:avLst/>
          </a:prstGeom>
          <a:solidFill>
            <a:srgbClr val="4A3AA7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728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vocabulary occurs exactly once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77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 Hindi HDTB — 16,649 newswire sentences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 Hindi PUD — 1,000 news + Wikipedia sentences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XQuAD Hindi — 240 Wikipedia passages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Devanagari-aware tokenisation: the danda (U+0964) is sentence punctuation, not a letter — a detail that silently corrupts counts if missed.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DF1E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977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49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caveat, stated up front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43891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dumps.wikimedia.org is unreachable from the analysis environment (HTTP 403). The full Wikipedia-dump pipeline is implemented and tested — one flag re-runs everything at ~60× scale. The corpus used here is mirrored Hindi text.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an independent frequency table built from billions of Hindi tokens gives α = 1.107 against our 1.092.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Zipf’s Law on Hindi — and where it bends</a:t>
            </a:r>
            <a:endParaRPr lang="en-US" sz="3000" dirty="0"/>
          </a:p>
        </p:txBody>
      </p:sp>
      <p:pic>
        <p:nvPicPr>
          <p:cNvPr id="4" name="Image 0" descr="/home/claude/zipf/figures/fig01_zipf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76656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visible bends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80960" y="21031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is too flat. </a:t>
            </a:r>
            <a:pPr indent="0" marL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f(1)/f(2) = 1.51, not the 2.00 pure Zipf demands.
</a:t>
            </a:r>
            <a:pPr indent="0" marL="0">
              <a:buNone/>
            </a:pPr>
            <a:r>
              <a:rPr lang="en-US" sz="13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is a shelf. </a:t>
            </a:r>
            <a:pPr indent="0" marL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 of the vocabulary occurs exactly once, from rank 12,273 onward.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397764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44805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 (r = 10–5,000):  α = 1.092,  R² = 0.9902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Zipf–Mandelbrot:  α = 0.988,  b = 1.15,  R² = 0.9963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FALSIFICATION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1 &amp; 2 — the head and the tail</a:t>
            </a:r>
            <a:endParaRPr lang="en-US" sz="3000" dirty="0"/>
          </a:p>
        </p:txBody>
      </p:sp>
      <p:pic>
        <p:nvPicPr>
          <p:cNvPr id="4" name="Image 0" descr="/home/claude/zipf/figures/fig02_head_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88136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212080"/>
            <a:ext cx="475488" cy="47548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212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5193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55046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Mandelbrot's 1953 offset (b = 1.15) cuts the mean top-10 error from 107% to 19% — a real residual remains. This attack lands, partially.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5212080"/>
            <a:ext cx="475488" cy="47548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5212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20840" y="5193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tail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20840" y="55046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shelf’s onset rank moves right in step with the corpus — 3,076 → 12,273. A real break would stay put. This one recedes.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FALSIFICATION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3 — the one that lands</a:t>
            </a:r>
            <a:endParaRPr lang="en-US" sz="3000" dirty="0"/>
          </a:p>
        </p:txBody>
      </p:sp>
      <p:pic>
        <p:nvPicPr>
          <p:cNvPr id="4" name="Image 0" descr="/home/claude/zipf/figures/fig03_goodness_of_f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10881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7548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DF1E9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19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14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230368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Clauset–Shalizi–Newman test rejects a pure power law (p = 0.000). But the misfit it rejects is 2.25% of cumulative probability — and a KS critical value shrinks as 1/√n.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identical distribution 500 word types → p = 0.22, not rejected.  Feed it 5,000 → p = 0.00, rejected.  γ ≈ 1.66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FALSIFICATION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4–6 &amp; 8 — break the corpus, not the plot</a:t>
            </a:r>
            <a:endParaRPr lang="en-US" sz="3000" dirty="0"/>
          </a:p>
        </p:txBody>
      </p:sp>
      <p:pic>
        <p:nvPicPr>
          <p:cNvPr id="4" name="Image 0" descr="/home/claude/zipf/figures/fig04_edge_ca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694944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00200"/>
            <a:ext cx="475488" cy="47548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genre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58200" y="1892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Newswire α = 0.988  ·  Wikipedia α = 0.931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2788920"/>
            <a:ext cx="475488" cy="47548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the engine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58200" y="30815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top 50 types — 40% of all tokens. Remainder: α = 1.005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3977640"/>
            <a:ext cx="475488" cy="47548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3959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the morphology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58200" y="42702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→ lemma: vocabulary −19%, α moves 1.112 → 1.177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63840" y="5166360"/>
            <a:ext cx="475488" cy="475488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58200" y="5148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unit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458200" y="54589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obey it (R² = 0.993). Characters do not (R² = 0.59).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FALSIFICATION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7 — “Zipf is trivial, monkeys do it too”</a:t>
            </a:r>
            <a:endParaRPr lang="en-US" sz="3000" dirty="0"/>
          </a:p>
        </p:txBody>
      </p:sp>
      <p:pic>
        <p:nvPicPr>
          <p:cNvPr id="4" name="Image 0" descr="/home/claude/zipf/figures/fig05_monkey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8813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 (1957): a monkey hitting keys at random, space bar included, produces a power law. So the law says nothing about language.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49377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9F7F1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objection backfires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55080" y="5394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typing gives a far worse power law (R² = 0.738 vs 0.990), 249,337 types instead of 22,199, and only 85 distinct frequency values against 367.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VERDICT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Scoreboard: nine attacks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778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927080" cy="18288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too flat for pure Zipf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7784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Mandelbrot cuts mean error 107% → 19%; residual is real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32720" y="188366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DF1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332720" y="18836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14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24942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350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collapses into a shelf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7784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recedes as N grows — sampling artefact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32720" y="23865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19" name="Text 17"/>
          <p:cNvSpPr/>
          <p:nvPr/>
        </p:nvSpPr>
        <p:spPr>
          <a:xfrm>
            <a:off x="10332720" y="23865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275234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2852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KS goodness-of-fit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77840" y="2852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— but flips with n on identical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332720" y="28895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DF1E9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0" y="2889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14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25526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355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genre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77840" y="3355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gap of only 0.056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32720" y="33924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0" y="33924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375818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top 50 word types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tokens gone; α = 1.005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332720" y="389534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37" name="Text 35"/>
          <p:cNvSpPr/>
          <p:nvPr/>
        </p:nvSpPr>
        <p:spPr>
          <a:xfrm>
            <a:off x="10332720" y="38953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426110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" y="4361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Hindi morphology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57784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−19%, α moves 0.065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332720" y="439826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43" name="Text 41"/>
          <p:cNvSpPr/>
          <p:nvPr/>
        </p:nvSpPr>
        <p:spPr>
          <a:xfrm>
            <a:off x="10332720" y="43982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" y="476402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34440" y="4864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typing is also Zipfian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577840" y="4864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 text is the worse power law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332720" y="49011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49" name="Text 47"/>
          <p:cNvSpPr/>
          <p:nvPr/>
        </p:nvSpPr>
        <p:spPr>
          <a:xfrm>
            <a:off x="10332720" y="49011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5800" y="526694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234440" y="5367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characters, not words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577840" y="5367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— correctly, and out of scope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332720" y="54041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DF1E9"/>
          </a:solidFill>
          <a:ln/>
        </p:spPr>
      </p:sp>
      <p:sp>
        <p:nvSpPr>
          <p:cNvPr id="55" name="Text 53"/>
          <p:cNvSpPr/>
          <p:nvPr/>
        </p:nvSpPr>
        <p:spPr>
          <a:xfrm>
            <a:off x="10332720" y="54041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14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5800" y="576986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" y="5870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234440" y="5870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drifts with size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5577840" y="5870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1.074 ± 0.019 over 50×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0332720" y="59070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61" name="Text 59"/>
          <p:cNvSpPr/>
          <p:nvPr/>
        </p:nvSpPr>
        <p:spPr>
          <a:xfrm>
            <a:off x="10332720" y="59070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85800" y="6272784"/>
            <a:ext cx="10927080" cy="7315"/>
          </a:xfrm>
          <a:prstGeom prst="rect">
            <a:avLst/>
          </a:prstGeom>
          <a:solidFill>
            <a:srgbClr val="DFE3E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ON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Zipf’s Law could not be disproved.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f(r) = C · (r + b)⁻ᵅ    with    α = 0.988,   b = 1.15,   R² = 0.9963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3200400" cy="3657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13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of nine attacks failed outright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ablation, morphology, unit change, scale, randomness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749040"/>
            <a:ext cx="3200400" cy="3657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913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partial hits target α =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4526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head, and a KS test whose 2.25% residual only becomes “significant” once n is large enough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749040"/>
            <a:ext cx="3200400" cy="3657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3913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confirmed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45262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wordfreq Hindi (billions of tokens) gives α = 1.107 against our 1.092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VOCABULARY GROWTH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Heaps’ Law: a straight line across three decades</a:t>
            </a:r>
            <a:endParaRPr lang="en-US" sz="3000" dirty="0"/>
          </a:p>
        </p:txBody>
      </p:sp>
      <p:pic>
        <p:nvPicPr>
          <p:cNvPr id="4" name="Image 0" descr="/home/claude/zipf/figures/fig07_heaps_log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58368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V(N) = 19.17 · N^0.5521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49808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0.99389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half β = 0.5847, second half β = 0.4944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token shuffle β = 0.5448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control β = 0.5971 (genre-confounded)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0" y="475488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&lt; 1 is the whole story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0" y="5212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grows sublinearly — each new page yields fewer new words than the last — but it never converges to a ceiling.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curve flatten?</a:t>
            </a:r>
            <a:endParaRPr lang="en-US" sz="3000" dirty="0"/>
          </a:p>
        </p:txBody>
      </p:sp>
      <p:pic>
        <p:nvPicPr>
          <p:cNvPr id="4" name="Image 0" descr="/home/claude/zipf/figures/fig08_heaps_kn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73152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5544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6233F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POINT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≈ 95,750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12480" y="2697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≈ 11,261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0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word types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40690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Kneedle criterion (Satopää et al., 2011): the point of maximum distance from the chord joining the curve’s endpoints — “where the eye sees the elbow”.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thresholds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5806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156k words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new types / 1k tokens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54680" y="5806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5.7M words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154680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new types / 1k tokens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5806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970M words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669280" y="6126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type / 1k tokens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CAVEAT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…except that it never really flattens</a:t>
            </a:r>
            <a:endParaRPr lang="en-US" sz="3000" dirty="0"/>
          </a:p>
        </p:txBody>
      </p:sp>
      <p:pic>
        <p:nvPicPr>
          <p:cNvPr id="4" name="Image 0" descr="/home/claude/zipf/figures/fig09_marginal_yie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676656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flattening is an illusion of scale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80960" y="2377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looks flat because the eye compares the local slope with the slope near the origin. Mathematically nothing has happened: β = 0.5521 &lt; 1, so dV/dN decays as N^−0.4479 — towards zero, never reaching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680960" y="388620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3F5F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43708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words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0" y="4370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39,400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07040" y="43708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21.8/1k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4809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words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0" y="48097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140,488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607040" y="48097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7.8/1k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55280" y="5248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words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0" y="52486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500,939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07040" y="52486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2.8/1k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55280" y="5687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1,000M words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0" y="5687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1,786,205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07040" y="56875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1.0/1k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HINDI SPECIFICS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morphology actually does: it moves K, not 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474720" cy="457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forms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511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17,985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 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28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 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105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0.5529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3474720" cy="4572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lemmas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5511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14,571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 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328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 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105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0.5501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686800" y="173736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E9F7F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89611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vocabulary, for a change in β of just 0.003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3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engineering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multiplies the vocabulary by a roughly constant factor at every scale — it does not change the rate at which new lexical material arrives. Subword tokenisation and lemmatisation therefore buy a constant-factor discount on a language’s data bill (worth ~19% here), never a change in its slope. Sarvam’s fertility gain from 4–8 tokens/word down to 1.4–2.1 is exactly this kind of win: large, real, and not a substitute for data.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curve to a cheque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gives the price. Heaps gives the denominator.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dV/dN = K·β·N^(β−1)   →   invert for N   →   × $0.01 per word</a:t>
            </a:r>
            <a:endParaRPr lang="en-US" sz="2000" dirty="0"/>
          </a:p>
        </p:txBody>
      </p:sp>
      <p:pic>
        <p:nvPicPr>
          <p:cNvPr id="6" name="Image 0" descr="/home/claude/zipf/figures/fig10_cost_ti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331720"/>
            <a:ext cx="68580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service tiers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 Bootstrap / tokenizer + stopwords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3172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155,950 words  ·  $1,559 curated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0" y="3767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Lexicon / spell-check / IR index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014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5,671,486 words  ·  $56,715 curated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0" y="4608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Search-grade language support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4855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26,659,928 words  ·  $266,599 curated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0" y="5449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Foundation-model-grade coverage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5696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969,551,787 words  ·  $9,695,518 curated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NUMBER THAT REFRAMES EVERYTHING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 actually bought the corpus?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billion words  ×  $0.01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$1,142,857,143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28× Sarvam AI’s entire disclosed seed + Series A funding of $41M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515600" cy="18288"/>
          </a:xfrm>
          <a:prstGeom prst="rect">
            <a:avLst/>
          </a:prstGeom>
          <a:solidFill>
            <a:srgbClr val="3A4A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is a curation price, not an acquisition price.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words, crawled, cost about $114,286. The ratio between curated and crawled text is 10,000 : 1 — and that single ratio explains why the entire language-technology industry is built on web crawling.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ITEMISED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Search vs Sarvam AI — one new language</a:t>
            </a:r>
            <a:endParaRPr lang="en-US" sz="3000" dirty="0"/>
          </a:p>
        </p:txBody>
      </p:sp>
      <p:pic>
        <p:nvPicPr>
          <p:cNvPr id="4" name="Image 0" descr="/home/claude/zipf/figures/fig11_cost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111556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32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669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Search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5650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$11.42M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926080" y="5961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34840" y="5650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$6.23M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434840" y="5961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5532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5669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49640" y="5650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$16.17M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549640" y="5961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58400" y="5650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$4.23M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058400" y="5961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FINDING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is not the bottleneck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pretraining, 105B-parameter MoE, 200B tokens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67128"/>
            <a:ext cx="320040" cy="384048"/>
          </a:xfrm>
          <a:prstGeom prst="roundRect">
            <a:avLst>
              <a:gd name="adj" fmla="val 17143"/>
            </a:avLst>
          </a:prstGeom>
          <a:solidFill>
            <a:srgbClr val="4A3AA7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2167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$119,318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120,000 hand-written instruction-tuning pairs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401568"/>
            <a:ext cx="532867" cy="384048"/>
          </a:xfrm>
          <a:prstGeom prst="roundRect">
            <a:avLst>
              <a:gd name="adj" fmla="val 14286"/>
            </a:avLst>
          </a:prstGeom>
          <a:solidFill>
            <a:srgbClr val="EB6834"/>
          </a:solidFill>
          <a:ln/>
        </p:spPr>
      </p:sp>
      <p:sp>
        <p:nvSpPr>
          <p:cNvPr id="9" name="Text 7"/>
          <p:cNvSpPr/>
          <p:nvPr/>
        </p:nvSpPr>
        <p:spPr>
          <a:xfrm>
            <a:off x="1383259" y="3401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$540,000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4251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licensed seed corpus (686M words)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636008"/>
            <a:ext cx="6766560" cy="384048"/>
          </a:xfrm>
          <a:prstGeom prst="roundRect">
            <a:avLst>
              <a:gd name="adj" fmla="val 14286"/>
            </a:avLst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7616952" y="4636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$6,857,143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 105B model on a whole new language costs less than the instruction data that follows it.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people are the bottleneck — not GPUs.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total cost of ownership:  Google Search $42.58M  ·  Sarvam AI $37.31M — within 15% of each other, but opposite in shape. Search is a subscription (raters, re-crawl, serving, forever). A foundation model is closer to a capital asset.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335024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1280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Zipf survives.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nine attacks failed outright. The two that landed both bear on the idealised α = 1 claim — the flat head, and a KS test whose 2.25% residual only becomes significant at large n. Over the open vocabulary Hindi fits Zipf–Mandelbrot to R² = 0.9963.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86584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true failure is out of scope.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54880" y="2331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do not obey the law (R² = 0.59). They are a closed inventory of 71 symbols; Zipf is a claim about open vocabularies. A law that held there too would be unfalsifiable.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438144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 flattens at ~96k tokens — visually.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0.5521, so vocabulary never stops growing. One new type per 1,000 tokens needs 970M words.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89704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434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Morphology sets K, not β.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754880" y="4434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tokenisation is a constant-factor discount on a language’s data bill, never a change in its slope.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541264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41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5486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language costs ~$11–16M to launch.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754880" y="5486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$11.42M + $6.23M/yr; Sarvam $16.17M + $4.23M/yr. Curated:crawled text is 10,000:1 — which is why nobody buys a pretraining corpus.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554480" y="182880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law you have not tried to break is not a law you have tested.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00200" y="3657600"/>
            <a:ext cx="2377440" cy="3657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3931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5120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report, code and figures: 01–08 reproduce every number from scratch (seed 20260823).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E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378,726 tokens · 22,199 types · α = 1.092 · β = 0.5521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Zipf, Heaps and the Price of a Language</dc:title>
  <dc:subject>PptxGenJS Presentation</dc:subject>
  <dc:creator>NLP Assignment</dc:creator>
  <cp:lastModifiedBy>NLP Assignment</cp:lastModifiedBy>
  <cp:revision>1</cp:revision>
  <dcterms:created xsi:type="dcterms:W3CDTF">2026-08-23T18:13:03Z</dcterms:created>
  <dcterms:modified xsi:type="dcterms:W3CDTF">2026-08-23T18:13:03Z</dcterms:modified>
</cp:coreProperties>
</file>